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73152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46304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19456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92608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38912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12064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85216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822960"/>
            <a:ext cx="11064240" cy="5303520"/>
          </a:xfrm>
          <a:prstGeom prst="rect">
            <a:avLst/>
          </a:prstGeom>
          <a:solidFill>
            <a:srgbClr val="121822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822960"/>
            <a:ext cx="11064240" cy="329184"/>
          </a:xfrm>
          <a:prstGeom prst="rect">
            <a:avLst/>
          </a:prstGeom>
          <a:solidFill>
            <a:srgbClr val="1A2230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923544"/>
            <a:ext cx="118872" cy="118872"/>
          </a:xfrm>
          <a:prstGeom prst="ellipse">
            <a:avLst/>
          </a:prstGeom>
          <a:solidFill>
            <a:srgbClr val="FF2D95"/>
          </a:solidFill>
          <a:ln w="12700">
            <a:solidFill>
              <a:srgbClr val="FF2D9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7552" y="923544"/>
            <a:ext cx="118872" cy="118872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97864" y="923544"/>
            <a:ext cx="118872" cy="118872"/>
          </a:xfrm>
          <a:prstGeom prst="ellipse">
            <a:avLst/>
          </a:prstGeom>
          <a:solidFill>
            <a:srgbClr val="C6FF3D"/>
          </a:solidFill>
          <a:ln w="12700">
            <a:solidFill>
              <a:srgbClr val="C6FF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17320" y="8412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arena-gamer-platform — main — zsh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5840" y="1417320"/>
            <a:ext cx="9601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ARENA GAMER</a:t>
            </a:r>
            <a:endParaRPr lang="en-US" sz="5600" dirty="0"/>
          </a:p>
        </p:txBody>
      </p:sp>
      <p:sp>
        <p:nvSpPr>
          <p:cNvPr id="34" name="Text 32"/>
          <p:cNvSpPr/>
          <p:nvPr/>
        </p:nvSpPr>
        <p:spPr>
          <a:xfrm>
            <a:off x="1005840" y="2286000"/>
            <a:ext cx="9601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PLATFORM_</a:t>
            </a:r>
            <a:endParaRPr lang="en-US" sz="5600" dirty="0"/>
          </a:p>
        </p:txBody>
      </p:sp>
      <p:sp>
        <p:nvSpPr>
          <p:cNvPr id="35" name="Text 33"/>
          <p:cNvSpPr/>
          <p:nvPr/>
        </p:nvSpPr>
        <p:spPr>
          <a:xfrm>
            <a:off x="1005840" y="3337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Microservicios Distribuidos  ·  Orquestación de Infraestructura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005840" y="3840480"/>
            <a:ext cx="9601200" cy="0"/>
          </a:xfrm>
          <a:prstGeom prst="line">
            <a:avLst/>
          </a:prstGeom>
          <a:noFill/>
          <a:ln w="12700">
            <a:solidFill>
              <a:srgbClr val="1E2A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5840" y="4023360"/>
            <a:ext cx="1732788" cy="301752"/>
          </a:xfrm>
          <a:prstGeom prst="roundRect">
            <a:avLst>
              <a:gd name="adj" fmla="val 15152"/>
            </a:avLst>
          </a:prstGeom>
          <a:solidFill>
            <a:srgbClr val="0A0E14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5840" y="4023360"/>
            <a:ext cx="173278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Boot 3.2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875788" y="4023360"/>
            <a:ext cx="1924812" cy="301752"/>
          </a:xfrm>
          <a:prstGeom prst="roundRect">
            <a:avLst>
              <a:gd name="adj" fmla="val 15152"/>
            </a:avLst>
          </a:prstGeom>
          <a:solidFill>
            <a:srgbClr val="0A0E14"/>
          </a:solidFill>
          <a:ln w="15240">
            <a:solidFill>
              <a:srgbClr val="FF2D9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75788" y="4023360"/>
            <a:ext cx="192481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2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Microservicios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37760" y="4023360"/>
            <a:ext cx="1348740" cy="301752"/>
          </a:xfrm>
          <a:prstGeom prst="roundRect">
            <a:avLst>
              <a:gd name="adj" fmla="val 15152"/>
            </a:avLst>
          </a:prstGeom>
          <a:solidFill>
            <a:srgbClr val="0A0E14"/>
          </a:solidFill>
          <a:ln w="15240">
            <a:solidFill>
              <a:srgbClr val="C6FF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4023360"/>
            <a:ext cx="134874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F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Gateway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23660" y="4023360"/>
            <a:ext cx="868680" cy="301752"/>
          </a:xfrm>
          <a:prstGeom prst="roundRect">
            <a:avLst>
              <a:gd name="adj" fmla="val 15152"/>
            </a:avLst>
          </a:prstGeom>
          <a:solidFill>
            <a:srgbClr val="0A0E14"/>
          </a:solidFill>
          <a:ln w="15240">
            <a:solidFill>
              <a:srgbClr val="FFB4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23660" y="4023360"/>
            <a:ext cx="8686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Eureka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29500" y="4023360"/>
            <a:ext cx="868680" cy="301752"/>
          </a:xfrm>
          <a:prstGeom prst="roundRect">
            <a:avLst>
              <a:gd name="adj" fmla="val 15152"/>
            </a:avLst>
          </a:prstGeom>
          <a:solidFill>
            <a:srgbClr val="0A0E14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29500" y="4023360"/>
            <a:ext cx="8686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435340" y="4023360"/>
            <a:ext cx="1444752" cy="301752"/>
          </a:xfrm>
          <a:prstGeom prst="roundRect">
            <a:avLst>
              <a:gd name="adj" fmla="val 15152"/>
            </a:avLst>
          </a:prstGeom>
          <a:solidFill>
            <a:srgbClr val="0A0E14"/>
          </a:solidFill>
          <a:ln w="15240">
            <a:solidFill>
              <a:srgbClr val="C6FF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35340" y="4023360"/>
            <a:ext cx="144475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F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82% Coverage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05840" y="4663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N°12  ·  </a:t>
            </a:r>
            <a:pPr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Tomás Recabarren</a:t>
            </a:r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Simanca</a:t>
            </a:r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Fabrizio Quintini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005840" y="5074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DSY1103 Desarrollo FullStack 1  ·  DUOC UC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73152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46304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19456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92608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38912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12064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85216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11480"/>
            <a:ext cx="45720" cy="914400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114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7572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ARENA-GAMER-PLATFORM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los LAN Centers pierden dinero</a:t>
            </a:r>
            <a:endParaRPr lang="en-US" sz="3200" dirty="0"/>
          </a:p>
        </p:txBody>
      </p:sp>
      <p:sp>
        <p:nvSpPr>
          <p:cNvPr id="32" name="Shape 30"/>
          <p:cNvSpPr/>
          <p:nvPr/>
        </p:nvSpPr>
        <p:spPr>
          <a:xfrm>
            <a:off x="502920" y="1691640"/>
            <a:ext cx="5577840" cy="1920240"/>
          </a:xfrm>
          <a:prstGeom prst="rect">
            <a:avLst/>
          </a:prstGeom>
          <a:solidFill>
            <a:srgbClr val="121822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1691640"/>
            <a:ext cx="5577840" cy="0"/>
          </a:xfrm>
          <a:prstGeom prst="line">
            <a:avLst/>
          </a:prstGeom>
          <a:noFill/>
          <a:ln w="31750">
            <a:solidFill>
              <a:srgbClr val="FF2D9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18745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280160" y="1874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de tiempo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85800" y="2404872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C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sin cierre controlado. Minutos cobrados de más o de menos. Sin trazabilidad, sin historial.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1691640"/>
            <a:ext cx="5577840" cy="1920240"/>
          </a:xfrm>
          <a:prstGeom prst="rect">
            <a:avLst/>
          </a:prstGeom>
          <a:solidFill>
            <a:srgbClr val="121822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1691640"/>
            <a:ext cx="5577840" cy="0"/>
          </a:xfrm>
          <a:prstGeom prst="line">
            <a:avLst/>
          </a:prstGeom>
          <a:noFill/>
          <a:ln w="31750">
            <a:solidFill>
              <a:srgbClr val="FFB4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18745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086600" y="1874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sin monitoreo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492240" y="2404872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C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CPUs a 90°+ sin alertas. Equipos que se queman en operación. Nadie se entera hasta que el daño está hecho.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2920" y="3840480"/>
            <a:ext cx="5577840" cy="1920240"/>
          </a:xfrm>
          <a:prstGeom prst="rect">
            <a:avLst/>
          </a:prstGeom>
          <a:solidFill>
            <a:srgbClr val="121822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" y="3840480"/>
            <a:ext cx="5577840" cy="0"/>
          </a:xfrm>
          <a:prstGeom prst="line">
            <a:avLst/>
          </a:prstGeom>
          <a:noFill/>
          <a:ln w="31750">
            <a:solidFill>
              <a:srgbClr val="FF2D9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40233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1280160" y="4023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Cobros manuales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85800" y="4553712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C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Planillas Excel. Sin billetera virtual ni historial de pagos. Inconsistencias entre lo jugado y lo cobrado.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309360" y="3840480"/>
            <a:ext cx="5577840" cy="1920240"/>
          </a:xfrm>
          <a:prstGeom prst="rect">
            <a:avLst/>
          </a:prstGeom>
          <a:solidFill>
            <a:srgbClr val="121822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9360" y="3840480"/>
            <a:ext cx="5577840" cy="0"/>
          </a:xfrm>
          <a:prstGeom prst="line">
            <a:avLst/>
          </a:prstGeom>
          <a:noFill/>
          <a:ln w="31750">
            <a:solidFill>
              <a:srgbClr val="00E5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0" y="40233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7086600" y="4023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Fidelización inexistente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6492240" y="4553712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C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recurrentes sin incentivos. Sin puntos, sin torneos, sin razón para volver mañana.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73152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46304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19456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92608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38912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12064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85216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11480"/>
            <a:ext cx="45720" cy="9144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114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 TÉCNICA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7572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ARENA-GAMER-PLATFORM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ecosistema completo</a:t>
            </a:r>
            <a:endParaRPr lang="en-US" sz="3200" dirty="0"/>
          </a:p>
        </p:txBody>
      </p:sp>
      <p:sp>
        <p:nvSpPr>
          <p:cNvPr id="32" name="Shape 30"/>
          <p:cNvSpPr/>
          <p:nvPr/>
        </p:nvSpPr>
        <p:spPr>
          <a:xfrm>
            <a:off x="4709160" y="1600200"/>
            <a:ext cx="2743200" cy="822960"/>
          </a:xfrm>
          <a:prstGeom prst="rect">
            <a:avLst/>
          </a:prstGeom>
          <a:solidFill>
            <a:srgbClr val="0D131C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6642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GATEWAY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9160" y="20116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:8080  ·  Spring Cloud Gateway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2651760"/>
            <a:ext cx="2743200" cy="749808"/>
          </a:xfrm>
          <a:prstGeom prst="rect">
            <a:avLst/>
          </a:prstGeom>
          <a:solidFill>
            <a:srgbClr val="0D131C"/>
          </a:solidFill>
          <a:ln w="19050">
            <a:solidFill>
              <a:srgbClr val="FFB4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7066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EUREKA SERVER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709160" y="305409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:8761  ·  Service Discovery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1600200"/>
            <a:ext cx="4023360" cy="749808"/>
          </a:xfrm>
          <a:prstGeom prst="rect">
            <a:avLst/>
          </a:prstGeom>
          <a:solidFill>
            <a:srgbClr val="121822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17099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user-service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108960" y="17099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:8081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480560" y="1975104"/>
            <a:ext cx="228600" cy="0"/>
          </a:xfrm>
          <a:prstGeom prst="line">
            <a:avLst/>
          </a:prstGeom>
          <a:noFill/>
          <a:ln w="12700">
            <a:solidFill>
              <a:srgbClr val="1E2A3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2487168"/>
            <a:ext cx="4023360" cy="749808"/>
          </a:xfrm>
          <a:prstGeom prst="rect">
            <a:avLst/>
          </a:prstGeom>
          <a:solidFill>
            <a:srgbClr val="121822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25968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station-service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108960" y="259689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:8083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480560" y="2862072"/>
            <a:ext cx="228600" cy="0"/>
          </a:xfrm>
          <a:prstGeom prst="line">
            <a:avLst/>
          </a:prstGeom>
          <a:noFill/>
          <a:ln w="12700">
            <a:solidFill>
              <a:srgbClr val="1E2A3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3374136"/>
            <a:ext cx="4023360" cy="749808"/>
          </a:xfrm>
          <a:prstGeom prst="rect">
            <a:avLst/>
          </a:prstGeom>
          <a:solidFill>
            <a:srgbClr val="121822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4838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session-service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3108960" y="348386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:8082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480560" y="3749040"/>
            <a:ext cx="228600" cy="0"/>
          </a:xfrm>
          <a:prstGeom prst="line">
            <a:avLst/>
          </a:prstGeom>
          <a:noFill/>
          <a:ln w="12700">
            <a:solidFill>
              <a:srgbClr val="1E2A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" y="4261104"/>
            <a:ext cx="4023360" cy="749808"/>
          </a:xfrm>
          <a:prstGeom prst="rect">
            <a:avLst/>
          </a:prstGeom>
          <a:solidFill>
            <a:srgbClr val="121822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4370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arena-wallet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3108960" y="43708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:8085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480560" y="4636008"/>
            <a:ext cx="228600" cy="0"/>
          </a:xfrm>
          <a:prstGeom prst="line">
            <a:avLst/>
          </a:prstGeom>
          <a:noFill/>
          <a:ln w="12700">
            <a:solidFill>
              <a:srgbClr val="1E2A3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5148072"/>
            <a:ext cx="4023360" cy="749808"/>
          </a:xfrm>
          <a:prstGeom prst="rect">
            <a:avLst/>
          </a:prstGeom>
          <a:solidFill>
            <a:srgbClr val="121822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5257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loyalty-service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3108960" y="5257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:8087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4480560" y="5522976"/>
            <a:ext cx="228600" cy="0"/>
          </a:xfrm>
          <a:prstGeom prst="line">
            <a:avLst/>
          </a:prstGeom>
          <a:noFill/>
          <a:ln w="12700">
            <a:solidFill>
              <a:srgbClr val="1E2A3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680960" y="1600200"/>
            <a:ext cx="4023360" cy="749808"/>
          </a:xfrm>
          <a:prstGeom prst="rect">
            <a:avLst/>
          </a:prstGeom>
          <a:solidFill>
            <a:srgbClr val="121822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863840" y="17099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arena-inventory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10424160" y="17099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6F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:9001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7452360" y="1975104"/>
            <a:ext cx="228600" cy="0"/>
          </a:xfrm>
          <a:prstGeom prst="line">
            <a:avLst/>
          </a:prstGeom>
          <a:noFill/>
          <a:ln w="12700">
            <a:solidFill>
              <a:srgbClr val="1E2A3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680960" y="2487168"/>
            <a:ext cx="4023360" cy="749808"/>
          </a:xfrm>
          <a:prstGeom prst="rect">
            <a:avLst/>
          </a:prstGeom>
          <a:solidFill>
            <a:srgbClr val="121822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63840" y="259689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arena-reservas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10424160" y="259689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6F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:9000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7452360" y="2862072"/>
            <a:ext cx="228600" cy="0"/>
          </a:xfrm>
          <a:prstGeom prst="line">
            <a:avLst/>
          </a:prstGeom>
          <a:noFill/>
          <a:ln w="12700">
            <a:solidFill>
              <a:srgbClr val="1E2A3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680960" y="3374136"/>
            <a:ext cx="4023360" cy="749808"/>
          </a:xfrm>
          <a:prstGeom prst="rect">
            <a:avLst/>
          </a:prstGeom>
          <a:solidFill>
            <a:srgbClr val="121822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863840" y="34838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hardware-monitor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10424160" y="348386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2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:8090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7452360" y="3749040"/>
            <a:ext cx="228600" cy="0"/>
          </a:xfrm>
          <a:prstGeom prst="line">
            <a:avLst/>
          </a:prstGeom>
          <a:noFill/>
          <a:ln w="12700">
            <a:solidFill>
              <a:srgbClr val="1E2A3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680960" y="4261104"/>
            <a:ext cx="4023360" cy="749808"/>
          </a:xfrm>
          <a:prstGeom prst="rect">
            <a:avLst/>
          </a:prstGeom>
          <a:solidFill>
            <a:srgbClr val="121822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863840" y="43708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notification-service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10424160" y="43708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2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:8089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7452360" y="4636008"/>
            <a:ext cx="228600" cy="0"/>
          </a:xfrm>
          <a:prstGeom prst="line">
            <a:avLst/>
          </a:prstGeom>
          <a:noFill/>
          <a:ln w="12700">
            <a:solidFill>
              <a:srgbClr val="1E2A3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680960" y="5148072"/>
            <a:ext cx="4023360" cy="749808"/>
          </a:xfrm>
          <a:prstGeom prst="rect">
            <a:avLst/>
          </a:prstGeom>
          <a:solidFill>
            <a:srgbClr val="121822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863840" y="5257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tournament-service</a:t>
            </a:r>
            <a:endParaRPr lang="en-US" sz="1150" dirty="0"/>
          </a:p>
        </p:txBody>
      </p:sp>
      <p:sp>
        <p:nvSpPr>
          <p:cNvPr id="76" name="Text 74"/>
          <p:cNvSpPr/>
          <p:nvPr/>
        </p:nvSpPr>
        <p:spPr>
          <a:xfrm>
            <a:off x="10424160" y="5257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2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:8088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7452360" y="5522976"/>
            <a:ext cx="228600" cy="0"/>
          </a:xfrm>
          <a:prstGeom prst="line">
            <a:avLst/>
          </a:prstGeom>
          <a:noFill/>
          <a:ln w="12700">
            <a:solidFill>
              <a:srgbClr val="1E2A3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57200" y="6035040"/>
            <a:ext cx="11247120" cy="530352"/>
          </a:xfrm>
          <a:prstGeom prst="rect">
            <a:avLst/>
          </a:prstGeom>
          <a:solidFill>
            <a:srgbClr val="1A2230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0080" y="609904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Monorepo multi-módulo Maven  ·  11 módulos  ·  1 pom.xml padre  ·  Red Docker interna aislada  ·  Perfiles h2 / mysql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73152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46304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19456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92608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38912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12064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85216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11480"/>
            <a:ext cx="45720" cy="914400"/>
          </a:xfrm>
          <a:prstGeom prst="rect">
            <a:avLst/>
          </a:prstGeom>
          <a:solidFill>
            <a:srgbClr val="C6FF3D"/>
          </a:solidFill>
          <a:ln w="12700">
            <a:solidFill>
              <a:srgbClr val="C6FF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114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REGLAS DE NEGOCIO CORE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7572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ARENA-GAMER-PLATFORM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 vida de una sesión</a:t>
            </a:r>
            <a:endParaRPr lang="en-US" sz="3200" dirty="0"/>
          </a:p>
        </p:txBody>
      </p:sp>
      <p:sp>
        <p:nvSpPr>
          <p:cNvPr id="32" name="Shape 30"/>
          <p:cNvSpPr/>
          <p:nvPr/>
        </p:nvSpPr>
        <p:spPr>
          <a:xfrm>
            <a:off x="457200" y="1709928"/>
            <a:ext cx="457200" cy="457200"/>
          </a:xfrm>
          <a:prstGeom prst="ellipse">
            <a:avLst/>
          </a:prstGeom>
          <a:solidFill>
            <a:srgbClr val="0A0E14"/>
          </a:solidFill>
          <a:ln w="22225">
            <a:solidFill>
              <a:srgbClr val="00E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" y="2167128"/>
            <a:ext cx="0" cy="429768"/>
          </a:xfrm>
          <a:prstGeom prst="line">
            <a:avLst/>
          </a:prstGeom>
          <a:noFill/>
          <a:ln w="19050">
            <a:solidFill>
              <a:srgbClr val="1E2A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17099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/api/sessions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097280" y="204825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usuario (user-service) y estación (station-service). Fallo → 404 / 409.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2642616"/>
            <a:ext cx="457200" cy="457200"/>
          </a:xfrm>
          <a:prstGeom prst="ellipse">
            <a:avLst/>
          </a:prstGeom>
          <a:solidFill>
            <a:srgbClr val="0A0E14"/>
          </a:solidFill>
          <a:ln w="22225">
            <a:solidFill>
              <a:srgbClr val="00E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642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85800" y="3099816"/>
            <a:ext cx="0" cy="429768"/>
          </a:xfrm>
          <a:prstGeom prst="line">
            <a:avLst/>
          </a:prstGeom>
          <a:noFill/>
          <a:ln w="19050">
            <a:solidFill>
              <a:srgbClr val="1E2A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97280" y="26426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→ ACTIVE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097280" y="29809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de inicio registrado. Estación bloqueada. 1 sesión activa por usuario y por estación.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3575304"/>
            <a:ext cx="457200" cy="457200"/>
          </a:xfrm>
          <a:prstGeom prst="ellipse">
            <a:avLst/>
          </a:prstGeom>
          <a:solidFill>
            <a:srgbClr val="0A0E14"/>
          </a:solidFill>
          <a:ln w="22225">
            <a:solidFill>
              <a:srgbClr val="FFB4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575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5800" y="4032504"/>
            <a:ext cx="0" cy="429768"/>
          </a:xfrm>
          <a:prstGeom prst="line">
            <a:avLst/>
          </a:prstGeom>
          <a:noFill/>
          <a:ln w="19050">
            <a:solidFill>
              <a:srgbClr val="1E2A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97280" y="357530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/sessions/{id}/finish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1097280" y="391363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calculada. Costo = min × $10 CLP. Débito automático en arena-wallet.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4507992"/>
            <a:ext cx="457200" cy="457200"/>
          </a:xfrm>
          <a:prstGeom prst="ellipse">
            <a:avLst/>
          </a:prstGeom>
          <a:solidFill>
            <a:srgbClr val="0A0E14"/>
          </a:solidFill>
          <a:ln w="22225">
            <a:solidFill>
              <a:srgbClr val="C6FF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507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F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85800" y="4965192"/>
            <a:ext cx="0" cy="429768"/>
          </a:xfrm>
          <a:prstGeom prst="line">
            <a:avLst/>
          </a:prstGeom>
          <a:noFill/>
          <a:ln w="19050">
            <a:solidFill>
              <a:srgbClr val="1E2A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97280" y="45079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6F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Acreditación de puntos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1097280" y="4846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loyalty-service recibe 1 pto por cada 10 min. BRONCE → PLATA (500) → ORO (1000).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5440680"/>
            <a:ext cx="457200" cy="457200"/>
          </a:xfrm>
          <a:prstGeom prst="ellipse">
            <a:avLst/>
          </a:prstGeom>
          <a:solidFill>
            <a:srgbClr val="0A0E14"/>
          </a:solidFill>
          <a:ln w="22225">
            <a:solidFill>
              <a:srgbClr val="7C8A9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097280" y="5440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→ FINISHED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1097280" y="577900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inmutable. Historial en GET /api/sessions/user/{userId}.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400800" y="1664208"/>
            <a:ext cx="5303520" cy="4846320"/>
          </a:xfrm>
          <a:prstGeom prst="rect">
            <a:avLst/>
          </a:prstGeom>
          <a:solidFill>
            <a:srgbClr val="0D131C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00800" y="1664208"/>
            <a:ext cx="5303520" cy="292608"/>
          </a:xfrm>
          <a:prstGeom prst="rect">
            <a:avLst/>
          </a:prstGeom>
          <a:solidFill>
            <a:srgbClr val="1A2230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269480" y="1737360"/>
            <a:ext cx="118872" cy="118872"/>
          </a:xfrm>
          <a:prstGeom prst="ellipse">
            <a:avLst/>
          </a:prstGeom>
          <a:solidFill>
            <a:srgbClr val="FF2D95"/>
          </a:solidFill>
          <a:ln w="12700">
            <a:solidFill>
              <a:srgbClr val="FF2D9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79792" y="1737360"/>
            <a:ext cx="118872" cy="118872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690104" y="1737360"/>
            <a:ext cx="118872" cy="118872"/>
          </a:xfrm>
          <a:prstGeom prst="ellipse">
            <a:avLst/>
          </a:prstGeom>
          <a:solidFill>
            <a:srgbClr val="C6FF3D"/>
          </a:solidFill>
          <a:ln w="12700">
            <a:solidFill>
              <a:srgbClr val="C6FF3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37960" y="1737360"/>
            <a:ext cx="118872" cy="118872"/>
          </a:xfrm>
          <a:prstGeom prst="ellipse">
            <a:avLst/>
          </a:prstGeom>
          <a:solidFill>
            <a:srgbClr val="FF2D95"/>
          </a:solidFill>
          <a:ln w="12700">
            <a:solidFill>
              <a:srgbClr val="FF2D9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48272" y="1737360"/>
            <a:ext cx="118872" cy="118872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958584" y="1737360"/>
            <a:ext cx="118872" cy="118872"/>
          </a:xfrm>
          <a:prstGeom prst="ellipse">
            <a:avLst/>
          </a:prstGeom>
          <a:solidFill>
            <a:srgbClr val="C6FF3D"/>
          </a:solidFill>
          <a:ln w="12700">
            <a:solidFill>
              <a:srgbClr val="C6FF3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83680" y="20299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Reglas de negocio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583680" y="23042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583680" y="25786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TARIFA   = $10 CLP / minuto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6583680" y="28529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PUNTOS   = duración / 10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6583680" y="31272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6583680" y="34015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Niveles fidelización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6583680" y="36758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BRONCE   →   0 – 499 pts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6583680" y="39502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PLATA    →   500 – 999 pts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6583680" y="42245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F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ORO      →   1000+ pts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583680" y="44988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6583680" y="47731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Restricciones activas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6583680" y="50474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2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sesión activa / usuario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6583680" y="53218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2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sesión activa / estación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6583680" y="55961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 falla → sesión OK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73152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46304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19456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92608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38912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12064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85216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11480"/>
            <a:ext cx="45720" cy="914400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114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CALIDAD Y DECISIONES TÉCNICAS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7572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ARENA-GAMER-PLATFORM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reales. Soluciones reales.</a:t>
            </a:r>
            <a:endParaRPr lang="en-US" sz="3200" dirty="0"/>
          </a:p>
        </p:txBody>
      </p:sp>
      <p:sp>
        <p:nvSpPr>
          <p:cNvPr id="32" name="Shape 30"/>
          <p:cNvSpPr/>
          <p:nvPr/>
        </p:nvSpPr>
        <p:spPr>
          <a:xfrm>
            <a:off x="457200" y="1691640"/>
            <a:ext cx="2606040" cy="1417320"/>
          </a:xfrm>
          <a:prstGeom prst="rect">
            <a:avLst/>
          </a:prstGeom>
          <a:solidFill>
            <a:srgbClr val="121822"/>
          </a:solidFill>
          <a:ln w="12700">
            <a:solidFill>
              <a:srgbClr val="C6FF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1691640"/>
            <a:ext cx="2606040" cy="0"/>
          </a:xfrm>
          <a:prstGeom prst="line">
            <a:avLst/>
          </a:prstGeom>
          <a:noFill/>
          <a:ln w="31750">
            <a:solidFill>
              <a:srgbClr val="C6FF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18745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6F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82%</a:t>
            </a:r>
            <a:endParaRPr lang="en-US" sz="3800" dirty="0"/>
          </a:p>
        </p:txBody>
      </p:sp>
      <p:sp>
        <p:nvSpPr>
          <p:cNvPr id="35" name="Text 33"/>
          <p:cNvSpPr/>
          <p:nvPr/>
        </p:nvSpPr>
        <p:spPr>
          <a:xfrm>
            <a:off x="548640" y="26517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user-service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C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JaCoCo + JUnit 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46120" y="1691640"/>
            <a:ext cx="2606040" cy="1417320"/>
          </a:xfrm>
          <a:prstGeom prst="rect">
            <a:avLst/>
          </a:prstGeom>
          <a:solidFill>
            <a:srgbClr val="1218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46120" y="1691640"/>
            <a:ext cx="2606040" cy="0"/>
          </a:xfrm>
          <a:prstGeom prst="line">
            <a:avLst/>
          </a:prstGeom>
          <a:noFill/>
          <a:ln w="31750">
            <a:solidFill>
              <a:srgbClr val="00E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6120" y="18745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3800" dirty="0"/>
          </a:p>
        </p:txBody>
      </p:sp>
      <p:sp>
        <p:nvSpPr>
          <p:cNvPr id="39" name="Text 37"/>
          <p:cNvSpPr/>
          <p:nvPr/>
        </p:nvSpPr>
        <p:spPr>
          <a:xfrm>
            <a:off x="3337560" y="26517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sin un fallo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C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· When · Then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35040" y="1691640"/>
            <a:ext cx="2606040" cy="1417320"/>
          </a:xfrm>
          <a:prstGeom prst="rect">
            <a:avLst/>
          </a:prstGeom>
          <a:solidFill>
            <a:srgbClr val="121822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040" y="1691640"/>
            <a:ext cx="2606040" cy="0"/>
          </a:xfrm>
          <a:prstGeom prst="line">
            <a:avLst/>
          </a:prstGeom>
          <a:noFill/>
          <a:ln w="31750">
            <a:solidFill>
              <a:srgbClr val="FFB4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0" y="18745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3s</a:t>
            </a:r>
            <a:endParaRPr lang="en-US" sz="3800" dirty="0"/>
          </a:p>
        </p:txBody>
      </p:sp>
      <p:sp>
        <p:nvSpPr>
          <p:cNvPr id="43" name="Text 41"/>
          <p:cNvSpPr/>
          <p:nvPr/>
        </p:nvSpPr>
        <p:spPr>
          <a:xfrm>
            <a:off x="6126480" y="26517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en todos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C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RestClients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823960" y="1691640"/>
            <a:ext cx="2606040" cy="1417320"/>
          </a:xfrm>
          <a:prstGeom prst="rect">
            <a:avLst/>
          </a:prstGeom>
          <a:solidFill>
            <a:srgbClr val="121822"/>
          </a:solidFill>
          <a:ln w="12700">
            <a:solidFill>
              <a:srgbClr val="FF2D9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23960" y="1691640"/>
            <a:ext cx="2606040" cy="0"/>
          </a:xfrm>
          <a:prstGeom prst="line">
            <a:avLst/>
          </a:prstGeom>
          <a:noFill/>
          <a:ln w="31750">
            <a:solidFill>
              <a:srgbClr val="FF2D9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23960" y="18745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2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3800" dirty="0"/>
          </a:p>
        </p:txBody>
      </p:sp>
      <p:sp>
        <p:nvSpPr>
          <p:cNvPr id="47" name="Text 45"/>
          <p:cNvSpPr/>
          <p:nvPr/>
        </p:nvSpPr>
        <p:spPr>
          <a:xfrm>
            <a:off x="8915400" y="26517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mocks verificados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C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Mockito verify()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3337560"/>
            <a:ext cx="11247120" cy="347472"/>
          </a:xfrm>
          <a:prstGeom prst="rect">
            <a:avLst/>
          </a:prstGeom>
          <a:solidFill>
            <a:srgbClr val="1A2230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3383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2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DECISIÓN TÉCNICA CRÍTICA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3749040"/>
            <a:ext cx="5394960" cy="2606040"/>
          </a:xfrm>
          <a:prstGeom prst="rect">
            <a:avLst/>
          </a:prstGeom>
          <a:solidFill>
            <a:srgbClr val="0D131C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" y="3749040"/>
            <a:ext cx="5394960" cy="292608"/>
          </a:xfrm>
          <a:prstGeom prst="rect">
            <a:avLst/>
          </a:prstGeom>
          <a:solidFill>
            <a:srgbClr val="1A2230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325880" y="3822192"/>
            <a:ext cx="118872" cy="118872"/>
          </a:xfrm>
          <a:prstGeom prst="ellipse">
            <a:avLst/>
          </a:prstGeom>
          <a:solidFill>
            <a:srgbClr val="FF2D95"/>
          </a:solidFill>
          <a:ln w="12700">
            <a:solidFill>
              <a:srgbClr val="FF2D9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536192" y="3822192"/>
            <a:ext cx="118872" cy="118872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46504" y="3822192"/>
            <a:ext cx="118872" cy="118872"/>
          </a:xfrm>
          <a:prstGeom prst="ellipse">
            <a:avLst/>
          </a:prstGeom>
          <a:solidFill>
            <a:srgbClr val="C6FF3D"/>
          </a:solidFill>
          <a:ln w="12700">
            <a:solidFill>
              <a:srgbClr val="C6FF3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4360" y="3822192"/>
            <a:ext cx="118872" cy="118872"/>
          </a:xfrm>
          <a:prstGeom prst="ellipse">
            <a:avLst/>
          </a:prstGeom>
          <a:solidFill>
            <a:srgbClr val="FF2D95"/>
          </a:solidFill>
          <a:ln w="12700">
            <a:solidFill>
              <a:srgbClr val="FF2D9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4672" y="3822192"/>
            <a:ext cx="118872" cy="118872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14984" y="3822192"/>
            <a:ext cx="118872" cy="118872"/>
          </a:xfrm>
          <a:prstGeom prst="ellipse">
            <a:avLst/>
          </a:prstGeom>
          <a:solidFill>
            <a:srgbClr val="C6FF3D"/>
          </a:solidFill>
          <a:ln w="12700">
            <a:solidFill>
              <a:srgbClr val="C6FF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" y="4114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2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PROBLEMA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40080" y="4389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OpenFeign + Spring Boot 3.2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40080" y="46634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incompatibilidad de deps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40080" y="49377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build fail en producción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640080" y="52120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40080" y="54864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F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SOLUCIÓN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40080" y="57607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RestClient nativo de Spring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40080" y="60350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SimpleClientHttpRequestFactory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40080" y="63093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timeout 3s connect + read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126480" y="3749040"/>
            <a:ext cx="5394960" cy="2606040"/>
          </a:xfrm>
          <a:prstGeom prst="rect">
            <a:avLst/>
          </a:prstGeom>
          <a:solidFill>
            <a:srgbClr val="0D131C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126480" y="3749040"/>
            <a:ext cx="5394960" cy="292608"/>
          </a:xfrm>
          <a:prstGeom prst="rect">
            <a:avLst/>
          </a:prstGeom>
          <a:solidFill>
            <a:srgbClr val="1A2230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995160" y="3822192"/>
            <a:ext cx="118872" cy="118872"/>
          </a:xfrm>
          <a:prstGeom prst="ellipse">
            <a:avLst/>
          </a:prstGeom>
          <a:solidFill>
            <a:srgbClr val="FF2D95"/>
          </a:solidFill>
          <a:ln w="12700">
            <a:solidFill>
              <a:srgbClr val="FF2D9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05472" y="3822192"/>
            <a:ext cx="118872" cy="118872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15784" y="3822192"/>
            <a:ext cx="118872" cy="118872"/>
          </a:xfrm>
          <a:prstGeom prst="ellipse">
            <a:avLst/>
          </a:prstGeom>
          <a:solidFill>
            <a:srgbClr val="C6FF3D"/>
          </a:solidFill>
          <a:ln w="12700">
            <a:solidFill>
              <a:srgbClr val="C6FF3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63640" y="3822192"/>
            <a:ext cx="118872" cy="118872"/>
          </a:xfrm>
          <a:prstGeom prst="ellipse">
            <a:avLst/>
          </a:prstGeom>
          <a:solidFill>
            <a:srgbClr val="FF2D95"/>
          </a:solidFill>
          <a:ln w="12700">
            <a:solidFill>
              <a:srgbClr val="FF2D9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73952" y="3822192"/>
            <a:ext cx="118872" cy="118872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684264" y="3822192"/>
            <a:ext cx="118872" cy="118872"/>
          </a:xfrm>
          <a:prstGeom prst="ellipse">
            <a:avLst/>
          </a:prstGeom>
          <a:solidFill>
            <a:srgbClr val="C6FF3D"/>
          </a:solidFill>
          <a:ln w="12700">
            <a:solidFill>
              <a:srgbClr val="C6FF3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09360" y="4114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Given-When-Then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6309360" y="4389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6309360" y="46634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6309360" y="49377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create_shouldSaveUser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6309360" y="52120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_whenDataIsValid() {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309360" y="54864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given → mock repo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6309360" y="57607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when  → service.create()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6309360" y="60350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F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then  → verify(repo).save()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6309360" y="63093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73152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46304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19456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92608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38912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12064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85216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5080">
            <a:solidFill>
              <a:srgbClr val="1E2A3A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11480"/>
            <a:ext cx="45720" cy="91440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114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INFRAESTRUCTURA Y DESPLIEGUE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7572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ARENA-GAMER-PLATFORM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localhost al servidor</a:t>
            </a:r>
            <a:endParaRPr lang="en-US" sz="3200" dirty="0"/>
          </a:p>
        </p:txBody>
      </p:sp>
      <p:sp>
        <p:nvSpPr>
          <p:cNvPr id="32" name="Shape 30"/>
          <p:cNvSpPr/>
          <p:nvPr/>
        </p:nvSpPr>
        <p:spPr>
          <a:xfrm>
            <a:off x="457200" y="1664208"/>
            <a:ext cx="5486400" cy="4754880"/>
          </a:xfrm>
          <a:prstGeom prst="rect">
            <a:avLst/>
          </a:prstGeom>
          <a:solidFill>
            <a:srgbClr val="121822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1664208"/>
            <a:ext cx="5486400" cy="0"/>
          </a:xfrm>
          <a:prstGeom prst="line">
            <a:avLst/>
          </a:prstGeom>
          <a:noFill/>
          <a:ln w="31750">
            <a:solidFill>
              <a:srgbClr val="00E5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175564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— Docker Compose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221284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11 contenedores en red Docker aislada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0080" y="27432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MySQL 8.4 con volumen persistente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40080" y="327355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usuario no-root (authuser) en cada imagen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0080" y="3803904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.env.example para resguardo de credenciales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40080" y="433425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depends_on para orden correcto de arranque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40080" y="486460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docker compose up -d --build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17920" y="1664208"/>
            <a:ext cx="5486400" cy="4754880"/>
          </a:xfrm>
          <a:prstGeom prst="rect">
            <a:avLst/>
          </a:prstGeom>
          <a:solidFill>
            <a:srgbClr val="121822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1664208"/>
            <a:ext cx="5486400" cy="0"/>
          </a:xfrm>
          <a:prstGeom prst="line">
            <a:avLst/>
          </a:prstGeom>
          <a:noFill/>
          <a:ln w="31750">
            <a:solidFill>
              <a:srgbClr val="FFB4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175564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 — Segunda plataforma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00800" y="221284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Blueprint IaC — render.yaml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400800" y="27432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eureka-server como Web Service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400800" y="327355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user-service conectado a Eureka remoto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400800" y="3803904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api-gateway resuelve rutas lb:// en nube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400800" y="433425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Variables de entorno en dashboard Render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400800" y="486460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EUREKA_URI configurado post-deploy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Arena Gamer Platform</dc:title>
  <dc:subject>PptxGenJS Presentation</dc:subject>
  <dc:creator>PptxGenJS</dc:creator>
  <cp:lastModifiedBy>PptxGenJS</cp:lastModifiedBy>
  <cp:revision>1</cp:revision>
  <dcterms:created xsi:type="dcterms:W3CDTF">2026-07-14T03:00:25Z</dcterms:created>
  <dcterms:modified xsi:type="dcterms:W3CDTF">2026-07-14T03:00:25Z</dcterms:modified>
</cp:coreProperties>
</file>